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F8C291-35BD-48AC-9D9F-32C3AE758FF5}" type="datetimeFigureOut">
              <a:rPr lang="en-IN" smtClean="0"/>
              <a:t>02-03-2026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1CBC20-5D57-4D7A-BD4F-FD4B31F5FA37}" type="slidenum">
              <a:rPr lang="en-IN" smtClean="0"/>
              <a:t>‹#›</a:t>
            </a:fld>
            <a:endParaRPr lang="en-IN"/>
          </a:p>
        </p:txBody>
      </p:sp>
    </p:spTree>
    <p:extLst>
      <p:ext uri="{BB962C8B-B14F-4D97-AF65-F5344CB8AC3E}">
        <p14:creationId xmlns:p14="http://schemas.microsoft.com/office/powerpoint/2010/main" val="3048550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D1CBC20-5D57-4D7A-BD4F-FD4B31F5FA37}" type="slidenum">
              <a:rPr lang="en-IN" smtClean="0"/>
              <a:t>4</a:t>
            </a:fld>
            <a:endParaRPr lang="en-IN"/>
          </a:p>
        </p:txBody>
      </p:sp>
    </p:spTree>
    <p:extLst>
      <p:ext uri="{BB962C8B-B14F-4D97-AF65-F5344CB8AC3E}">
        <p14:creationId xmlns:p14="http://schemas.microsoft.com/office/powerpoint/2010/main" val="23199805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3321C0C5-10BD-473D-BB3E-4213A4061A25}" type="datetimeFigureOut">
              <a:rPr lang="en-IN" smtClean="0"/>
              <a:t>02-03-2026</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D5C1E522-EC11-47DA-9FBA-093FC01D9544}"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40228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21C0C5-10BD-473D-BB3E-4213A4061A25}"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C1E522-EC11-47DA-9FBA-093FC01D9544}" type="slidenum">
              <a:rPr lang="en-IN" smtClean="0"/>
              <a:t>‹#›</a:t>
            </a:fld>
            <a:endParaRPr lang="en-IN"/>
          </a:p>
        </p:txBody>
      </p:sp>
    </p:spTree>
    <p:extLst>
      <p:ext uri="{BB962C8B-B14F-4D97-AF65-F5344CB8AC3E}">
        <p14:creationId xmlns:p14="http://schemas.microsoft.com/office/powerpoint/2010/main" val="6000313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21C0C5-10BD-473D-BB3E-4213A4061A25}"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C1E522-EC11-47DA-9FBA-093FC01D9544}"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641248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321C0C5-10BD-473D-BB3E-4213A4061A25}" type="datetimeFigureOut">
              <a:rPr lang="en-IN" smtClean="0"/>
              <a:t>02-03-2026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C1E522-EC11-47DA-9FBA-093FC01D9544}" type="slidenum">
              <a:rPr lang="en-IN" smtClean="0"/>
              <a:t>‹#›</a:t>
            </a:fld>
            <a:endParaRPr lang="en-IN"/>
          </a:p>
        </p:txBody>
      </p:sp>
    </p:spTree>
    <p:extLst>
      <p:ext uri="{BB962C8B-B14F-4D97-AF65-F5344CB8AC3E}">
        <p14:creationId xmlns:p14="http://schemas.microsoft.com/office/powerpoint/2010/main" val="2375226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321C0C5-10BD-473D-BB3E-4213A4061A25}" type="datetimeFigureOut">
              <a:rPr lang="en-IN" smtClean="0"/>
              <a:t>02-03-2026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5C1E522-EC11-47DA-9FBA-093FC01D9544}"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90436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321C0C5-10BD-473D-BB3E-4213A4061A25}" type="datetimeFigureOut">
              <a:rPr lang="en-IN" smtClean="0"/>
              <a:t>02-03-2026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5C1E522-EC11-47DA-9FBA-093FC01D9544}"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21363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21C0C5-10BD-473D-BB3E-4213A4061A25}" type="datetimeFigureOut">
              <a:rPr lang="en-IN" smtClean="0"/>
              <a:t>02-03-2026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5C1E522-EC11-47DA-9FBA-093FC01D9544}" type="slidenum">
              <a:rPr lang="en-IN" smtClean="0"/>
              <a:t>‹#›</a:t>
            </a:fld>
            <a:endParaRPr lang="en-IN"/>
          </a:p>
        </p:txBody>
      </p:sp>
    </p:spTree>
    <p:extLst>
      <p:ext uri="{BB962C8B-B14F-4D97-AF65-F5344CB8AC3E}">
        <p14:creationId xmlns:p14="http://schemas.microsoft.com/office/powerpoint/2010/main" val="1945036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21C0C5-10BD-473D-BB3E-4213A4061A25}" type="datetimeFigureOut">
              <a:rPr lang="en-IN" smtClean="0"/>
              <a:t>02-03-2026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C1E522-EC11-47DA-9FBA-093FC01D9544}"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24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21C0C5-10BD-473D-BB3E-4213A4061A25}" type="datetimeFigureOut">
              <a:rPr lang="en-IN" smtClean="0"/>
              <a:t>02-03-2026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C1E522-EC11-47DA-9FBA-093FC01D9544}" type="slidenum">
              <a:rPr lang="en-IN" smtClean="0"/>
              <a:t>‹#›</a:t>
            </a:fld>
            <a:endParaRPr lang="en-IN"/>
          </a:p>
        </p:txBody>
      </p:sp>
    </p:spTree>
    <p:extLst>
      <p:ext uri="{BB962C8B-B14F-4D97-AF65-F5344CB8AC3E}">
        <p14:creationId xmlns:p14="http://schemas.microsoft.com/office/powerpoint/2010/main" val="6123858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21C0C5-10BD-473D-BB3E-4213A4061A25}" type="datetimeFigureOut">
              <a:rPr lang="en-IN" smtClean="0"/>
              <a:t>02-03-2026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C1E522-EC11-47DA-9FBA-093FC01D9544}" type="slidenum">
              <a:rPr lang="en-IN" smtClean="0"/>
              <a:t>‹#›</a:t>
            </a:fld>
            <a:endParaRPr lang="en-IN"/>
          </a:p>
        </p:txBody>
      </p:sp>
    </p:spTree>
    <p:extLst>
      <p:ext uri="{BB962C8B-B14F-4D97-AF65-F5344CB8AC3E}">
        <p14:creationId xmlns:p14="http://schemas.microsoft.com/office/powerpoint/2010/main" val="2086950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21C0C5-10BD-473D-BB3E-4213A4061A25}"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C1E522-EC11-47DA-9FBA-093FC01D9544}"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337220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21C0C5-10BD-473D-BB3E-4213A4061A25}"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C1E522-EC11-47DA-9FBA-093FC01D9544}"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131615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21C0C5-10BD-473D-BB3E-4213A4061A25}"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C1E522-EC11-47DA-9FBA-093FC01D9544}" type="slidenum">
              <a:rPr lang="en-IN" smtClean="0"/>
              <a:t>‹#›</a:t>
            </a:fld>
            <a:endParaRPr lang="en-IN"/>
          </a:p>
        </p:txBody>
      </p:sp>
    </p:spTree>
    <p:extLst>
      <p:ext uri="{BB962C8B-B14F-4D97-AF65-F5344CB8AC3E}">
        <p14:creationId xmlns:p14="http://schemas.microsoft.com/office/powerpoint/2010/main" val="34019819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21C0C5-10BD-473D-BB3E-4213A4061A25}"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C1E522-EC11-47DA-9FBA-093FC01D9544}"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50489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21C0C5-10BD-473D-BB3E-4213A4061A25}"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C1E522-EC11-47DA-9FBA-093FC01D9544}"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796332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21C0C5-10BD-473D-BB3E-4213A4061A25}"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C1E522-EC11-47DA-9FBA-093FC01D9544}"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477175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21C0C5-10BD-473D-BB3E-4213A4061A25}"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C1E522-EC11-47DA-9FBA-093FC01D9544}"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595828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321C0C5-10BD-473D-BB3E-4213A4061A25}" type="datetimeFigureOut">
              <a:rPr lang="en-IN" smtClean="0"/>
              <a:t>02-03-2026</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C1E522-EC11-47DA-9FBA-093FC01D9544}" type="slidenum">
              <a:rPr lang="en-IN" smtClean="0"/>
              <a:t>‹#›</a:t>
            </a:fld>
            <a:endParaRPr lang="en-IN"/>
          </a:p>
        </p:txBody>
      </p:sp>
    </p:spTree>
    <p:extLst>
      <p:ext uri="{BB962C8B-B14F-4D97-AF65-F5344CB8AC3E}">
        <p14:creationId xmlns:p14="http://schemas.microsoft.com/office/powerpoint/2010/main" val="29889995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cmangla581/Naviotech_Project12_Breast_Cancer_Neural_Networks_Classification_Projec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937FD-C10A-222E-83D0-B7EFB9059EAD}"/>
              </a:ext>
            </a:extLst>
          </p:cNvPr>
          <p:cNvSpPr>
            <a:spLocks noGrp="1"/>
          </p:cNvSpPr>
          <p:nvPr>
            <p:ph type="ctrTitle"/>
          </p:nvPr>
        </p:nvSpPr>
        <p:spPr>
          <a:xfrm>
            <a:off x="2341984" y="1492899"/>
            <a:ext cx="7520473" cy="1893766"/>
          </a:xfrm>
          <a:blipFill>
            <a:blip r:embed="rId2"/>
            <a:tile tx="0" ty="0" sx="100000" sy="100000" flip="none" algn="tl"/>
          </a:blipFill>
        </p:spPr>
        <p:txBody>
          <a:bodyPr/>
          <a:lstStyle/>
          <a:p>
            <a:r>
              <a:rPr lang="en-US" sz="3200" b="1" dirty="0" err="1">
                <a:latin typeface="Calibri" panose="020F0502020204030204" pitchFamily="34" charset="0"/>
                <a:cs typeface="Calibri" panose="020F0502020204030204" pitchFamily="34" charset="0"/>
              </a:rPr>
              <a:t>Naviotech</a:t>
            </a:r>
            <a:r>
              <a:rPr lang="en-US" sz="3200" b="1" dirty="0">
                <a:latin typeface="Calibri" panose="020F0502020204030204" pitchFamily="34" charset="0"/>
                <a:cs typeface="Calibri" panose="020F0502020204030204" pitchFamily="34" charset="0"/>
              </a:rPr>
              <a:t> Training &amp; Internship Project</a:t>
            </a:r>
            <a:endParaRPr lang="en-IN" sz="3200" b="1" dirty="0">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D5D82659-C62C-5233-3B10-C58097804389}"/>
              </a:ext>
            </a:extLst>
          </p:cNvPr>
          <p:cNvSpPr>
            <a:spLocks noGrp="1"/>
          </p:cNvSpPr>
          <p:nvPr>
            <p:ph type="subTitle" idx="1"/>
          </p:nvPr>
        </p:nvSpPr>
        <p:spPr>
          <a:xfrm>
            <a:off x="2239347" y="3386664"/>
            <a:ext cx="7697755" cy="2062413"/>
          </a:xfrm>
          <a:blipFill>
            <a:blip r:embed="rId3"/>
            <a:tile tx="0" ty="0" sx="100000" sy="100000" flip="none" algn="tl"/>
          </a:blipFill>
        </p:spPr>
        <p:txBody>
          <a:bodyPr/>
          <a:lstStyle/>
          <a:p>
            <a:endParaRPr lang="en-US" b="1"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Name : Chaitanya Mangla  </a:t>
            </a:r>
          </a:p>
          <a:p>
            <a:r>
              <a:rPr lang="en-US" b="1" dirty="0">
                <a:latin typeface="Calibri" panose="020F0502020204030204" pitchFamily="34" charset="0"/>
                <a:cs typeface="Calibri" panose="020F0502020204030204" pitchFamily="34" charset="0"/>
              </a:rPr>
              <a:t>Topic : Breast Cancer Classification Neural Networks Project</a:t>
            </a:r>
            <a:endParaRPr lang="en-IN"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52608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3E164-2ED9-7A44-DA92-8F97DD0330D1}"/>
              </a:ext>
            </a:extLst>
          </p:cNvPr>
          <p:cNvSpPr>
            <a:spLocks noGrp="1"/>
          </p:cNvSpPr>
          <p:nvPr>
            <p:ph type="title"/>
          </p:nvPr>
        </p:nvSpPr>
        <p:spPr>
          <a:xfrm>
            <a:off x="597159" y="982132"/>
            <a:ext cx="11019453" cy="1303867"/>
          </a:xfrm>
          <a:blipFill>
            <a:blip r:embed="rId2"/>
            <a:tile tx="0" ty="0" sx="100000" sy="100000" flip="none" algn="tl"/>
          </a:blipFill>
        </p:spPr>
        <p:txBody>
          <a:bodyPr>
            <a:normAutofit/>
          </a:bodyPr>
          <a:lstStyle/>
          <a:p>
            <a:r>
              <a:rPr lang="en-US" sz="3600" b="1" dirty="0">
                <a:latin typeface="Calibri" panose="020F0502020204030204" pitchFamily="34" charset="0"/>
                <a:cs typeface="Calibri" panose="020F0502020204030204" pitchFamily="34" charset="0"/>
              </a:rPr>
              <a:t>Neural Networks</a:t>
            </a:r>
            <a:endParaRPr lang="en-IN" sz="3600" b="1"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87AED07F-484D-0A5F-D099-A7469DD843F8}"/>
              </a:ext>
            </a:extLst>
          </p:cNvPr>
          <p:cNvSpPr>
            <a:spLocks noGrp="1"/>
          </p:cNvSpPr>
          <p:nvPr>
            <p:ph idx="1"/>
          </p:nvPr>
        </p:nvSpPr>
        <p:spPr>
          <a:xfrm>
            <a:off x="597159" y="2285999"/>
            <a:ext cx="10997682" cy="3909528"/>
          </a:xfrm>
          <a:blipFill>
            <a:blip r:embed="rId3"/>
            <a:tile tx="0" ty="0" sx="100000" sy="100000" flip="none" algn="tl"/>
          </a:blipFill>
        </p:spPr>
        <p:txBody>
          <a:bodyPr/>
          <a:lstStyle/>
          <a:p>
            <a:r>
              <a:rPr lang="en-US" b="1" dirty="0">
                <a:latin typeface="Calibri" panose="020F0502020204030204" pitchFamily="34" charset="0"/>
                <a:cs typeface="Calibri" panose="020F0502020204030204" pitchFamily="34" charset="0"/>
              </a:rPr>
              <a:t>A Neural Network is a Machine Learning Or Deep Learning Concept which  is inspired by how the human brain works. </a:t>
            </a:r>
          </a:p>
          <a:p>
            <a:r>
              <a:rPr lang="en-US" b="1" dirty="0">
                <a:latin typeface="Calibri" panose="020F0502020204030204" pitchFamily="34" charset="0"/>
                <a:cs typeface="Calibri" panose="020F0502020204030204" pitchFamily="34" charset="0"/>
              </a:rPr>
              <a:t>It is used to recognize the patterns, learn from the data and make predictions.  </a:t>
            </a:r>
          </a:p>
          <a:p>
            <a:r>
              <a:rPr lang="en-US" b="1" dirty="0">
                <a:latin typeface="Calibri" panose="020F0502020204030204" pitchFamily="34" charset="0"/>
                <a:cs typeface="Calibri" panose="020F0502020204030204" pitchFamily="34" charset="0"/>
              </a:rPr>
              <a:t>Just like the brain has neurons, the neural networks has artificial neurons connected together.  They are arranged in layers like: </a:t>
            </a:r>
          </a:p>
          <a:p>
            <a:r>
              <a:rPr lang="en-US" b="1" dirty="0">
                <a:latin typeface="Calibri" panose="020F0502020204030204" pitchFamily="34" charset="0"/>
                <a:cs typeface="Calibri" panose="020F0502020204030204" pitchFamily="34" charset="0"/>
              </a:rPr>
              <a:t>1. Input layer : Takes data in form of numbers, images and text. </a:t>
            </a:r>
          </a:p>
          <a:p>
            <a:r>
              <a:rPr lang="en-US" b="1" dirty="0">
                <a:latin typeface="Calibri" panose="020F0502020204030204" pitchFamily="34" charset="0"/>
                <a:cs typeface="Calibri" panose="020F0502020204030204" pitchFamily="34" charset="0"/>
              </a:rPr>
              <a:t>2. Hidden Layers : Do calculations and learn patterns </a:t>
            </a:r>
          </a:p>
          <a:p>
            <a:r>
              <a:rPr lang="en-US" b="1" dirty="0">
                <a:latin typeface="Calibri" panose="020F0502020204030204" pitchFamily="34" charset="0"/>
                <a:cs typeface="Calibri" panose="020F0502020204030204" pitchFamily="34" charset="0"/>
              </a:rPr>
              <a:t>3. Output Layer : Gives the final prediction and results. </a:t>
            </a:r>
            <a:endParaRPr lang="en-IN"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42412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FB898-982F-4759-05D7-9DEF40A96653}"/>
              </a:ext>
            </a:extLst>
          </p:cNvPr>
          <p:cNvSpPr>
            <a:spLocks noGrp="1"/>
          </p:cNvSpPr>
          <p:nvPr>
            <p:ph type="title"/>
          </p:nvPr>
        </p:nvSpPr>
        <p:spPr>
          <a:xfrm>
            <a:off x="662473" y="982132"/>
            <a:ext cx="10916817" cy="1303867"/>
          </a:xfrm>
          <a:blipFill>
            <a:blip r:embed="rId2"/>
            <a:tile tx="0" ty="0" sx="100000" sy="100000" flip="none" algn="tl"/>
          </a:blipFill>
        </p:spPr>
        <p:txBody>
          <a:bodyPr>
            <a:normAutofit/>
          </a:bodyPr>
          <a:lstStyle/>
          <a:p>
            <a:r>
              <a:rPr lang="en-US" sz="2400" b="1" dirty="0">
                <a:latin typeface="Calibri" panose="020F0502020204030204" pitchFamily="34" charset="0"/>
                <a:cs typeface="Calibri" panose="020F0502020204030204" pitchFamily="34" charset="0"/>
              </a:rPr>
              <a:t>Step by Step Working of the Neural Networks</a:t>
            </a:r>
            <a:endParaRPr lang="en-IN" sz="2400" b="1"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1665482D-1F93-CE1D-7A58-C234650CB390}"/>
              </a:ext>
            </a:extLst>
          </p:cNvPr>
          <p:cNvSpPr>
            <a:spLocks noGrp="1"/>
          </p:cNvSpPr>
          <p:nvPr>
            <p:ph idx="1"/>
          </p:nvPr>
        </p:nvSpPr>
        <p:spPr>
          <a:xfrm>
            <a:off x="662472" y="2285999"/>
            <a:ext cx="10916817" cy="3984172"/>
          </a:xfrm>
          <a:blipFill>
            <a:blip r:embed="rId3"/>
            <a:tile tx="0" ty="0" sx="100000" sy="100000" flip="none" algn="tl"/>
          </a:blipFill>
        </p:spPr>
        <p:txBody>
          <a:bodyPr>
            <a:normAutofit lnSpcReduction="10000"/>
          </a:bodyPr>
          <a:lstStyle/>
          <a:p>
            <a:r>
              <a:rPr lang="en-US" b="1" dirty="0">
                <a:latin typeface="Calibri" panose="020F0502020204030204" pitchFamily="34" charset="0"/>
                <a:cs typeface="Calibri" panose="020F0502020204030204" pitchFamily="34" charset="0"/>
              </a:rPr>
              <a:t>Step by step working of the neural networks takes place as: </a:t>
            </a:r>
          </a:p>
          <a:p>
            <a:r>
              <a:rPr lang="en-US" b="1" dirty="0">
                <a:latin typeface="Calibri" panose="020F0502020204030204" pitchFamily="34" charset="0"/>
                <a:cs typeface="Calibri" panose="020F0502020204030204" pitchFamily="34" charset="0"/>
              </a:rPr>
              <a:t>1. Data enters the network. </a:t>
            </a:r>
          </a:p>
          <a:p>
            <a:r>
              <a:rPr lang="en-US" b="1" dirty="0">
                <a:latin typeface="Calibri" panose="020F0502020204030204" pitchFamily="34" charset="0"/>
                <a:cs typeface="Calibri" panose="020F0502020204030204" pitchFamily="34" charset="0"/>
              </a:rPr>
              <a:t>2. Each neuron multiplies the inputs by weight. </a:t>
            </a:r>
          </a:p>
          <a:p>
            <a:r>
              <a:rPr lang="en-US" b="1" dirty="0">
                <a:latin typeface="Calibri" panose="020F0502020204030204" pitchFamily="34" charset="0"/>
                <a:cs typeface="Calibri" panose="020F0502020204030204" pitchFamily="34" charset="0"/>
              </a:rPr>
              <a:t>3. Adds the bias. </a:t>
            </a:r>
          </a:p>
          <a:p>
            <a:r>
              <a:rPr lang="en-US" b="1" dirty="0">
                <a:latin typeface="Calibri" panose="020F0502020204030204" pitchFamily="34" charset="0"/>
                <a:cs typeface="Calibri" panose="020F0502020204030204" pitchFamily="34" charset="0"/>
              </a:rPr>
              <a:t>4. Passes through an activation function. </a:t>
            </a:r>
          </a:p>
          <a:p>
            <a:r>
              <a:rPr lang="en-US" b="1" dirty="0">
                <a:latin typeface="Calibri" panose="020F0502020204030204" pitchFamily="34" charset="0"/>
                <a:cs typeface="Calibri" panose="020F0502020204030204" pitchFamily="34" charset="0"/>
              </a:rPr>
              <a:t>5.  Output is produced. </a:t>
            </a:r>
          </a:p>
          <a:p>
            <a:r>
              <a:rPr lang="en-US" b="1" dirty="0">
                <a:latin typeface="Calibri" panose="020F0502020204030204" pitchFamily="34" charset="0"/>
                <a:cs typeface="Calibri" panose="020F0502020204030204" pitchFamily="34" charset="0"/>
              </a:rPr>
              <a:t>6.  Errors are calculated.  </a:t>
            </a:r>
          </a:p>
          <a:p>
            <a:r>
              <a:rPr lang="en-US" b="1" dirty="0">
                <a:latin typeface="Calibri" panose="020F0502020204030204" pitchFamily="34" charset="0"/>
                <a:cs typeface="Calibri" panose="020F0502020204030204" pitchFamily="34" charset="0"/>
              </a:rPr>
              <a:t>7. Weights are calculated by back propagation. </a:t>
            </a:r>
            <a:endParaRPr lang="en-IN"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915938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DAE99-5014-528A-46F6-9C09B7629F71}"/>
              </a:ext>
            </a:extLst>
          </p:cNvPr>
          <p:cNvSpPr>
            <a:spLocks noGrp="1"/>
          </p:cNvSpPr>
          <p:nvPr>
            <p:ph type="title"/>
          </p:nvPr>
        </p:nvSpPr>
        <p:spPr>
          <a:xfrm>
            <a:off x="615820" y="982132"/>
            <a:ext cx="10935478" cy="1303867"/>
          </a:xfrm>
          <a:blipFill>
            <a:blip r:embed="rId3"/>
            <a:tile tx="0" ty="0" sx="100000" sy="100000" flip="none" algn="tl"/>
          </a:blipFill>
        </p:spPr>
        <p:txBody>
          <a:bodyPr/>
          <a:lstStyle/>
          <a:p>
            <a:r>
              <a:rPr lang="en-US" b="1" dirty="0">
                <a:latin typeface="Calibri" panose="020F0502020204030204" pitchFamily="34" charset="0"/>
                <a:cs typeface="Calibri" panose="020F0502020204030204" pitchFamily="34" charset="0"/>
              </a:rPr>
              <a:t>Back Propagation</a:t>
            </a:r>
            <a:endParaRPr lang="en-IN" b="1"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F4061F91-65ED-A2B7-FFFD-00009D1F786E}"/>
              </a:ext>
            </a:extLst>
          </p:cNvPr>
          <p:cNvSpPr>
            <a:spLocks noGrp="1"/>
          </p:cNvSpPr>
          <p:nvPr>
            <p:ph idx="1"/>
          </p:nvPr>
        </p:nvSpPr>
        <p:spPr>
          <a:xfrm>
            <a:off x="640702" y="2285999"/>
            <a:ext cx="10910596" cy="3909528"/>
          </a:xfrm>
          <a:blipFill>
            <a:blip r:embed="rId4"/>
            <a:tile tx="0" ty="0" sx="100000" sy="100000" flip="none" algn="tl"/>
          </a:blipFill>
        </p:spPr>
        <p:txBody>
          <a:bodyPr/>
          <a:lstStyle/>
          <a:p>
            <a:r>
              <a:rPr lang="en-US" b="1" dirty="0">
                <a:latin typeface="Calibri" panose="020F0502020204030204" pitchFamily="34" charset="0"/>
                <a:cs typeface="Calibri" panose="020F0502020204030204" pitchFamily="34" charset="0"/>
              </a:rPr>
              <a:t>Back Propagation refers to the technique in the neural networks which is a fundamental algorithm used to train the artificial neural networks by calculating the gradient of the loss of the functions with respect to the networks’ weights. </a:t>
            </a:r>
          </a:p>
          <a:p>
            <a:r>
              <a:rPr lang="en-US" b="1" dirty="0">
                <a:latin typeface="Calibri" panose="020F0502020204030204" pitchFamily="34" charset="0"/>
                <a:cs typeface="Calibri" panose="020F0502020204030204" pitchFamily="34" charset="0"/>
              </a:rPr>
              <a:t>It calculates from the output layer moving backward, enabling efficient </a:t>
            </a:r>
            <a:r>
              <a:rPr lang="en-US" b="1" dirty="0" err="1">
                <a:latin typeface="Calibri" panose="020F0502020204030204" pitchFamily="34" charset="0"/>
                <a:cs typeface="Calibri" panose="020F0502020204030204" pitchFamily="34" charset="0"/>
              </a:rPr>
              <a:t>updatesto</a:t>
            </a:r>
            <a:r>
              <a:rPr lang="en-US" b="1" dirty="0">
                <a:latin typeface="Calibri" panose="020F0502020204030204" pitchFamily="34" charset="0"/>
                <a:cs typeface="Calibri" panose="020F0502020204030204" pitchFamily="34" charset="0"/>
              </a:rPr>
              <a:t> minimize errors and improve accuracy.  </a:t>
            </a:r>
          </a:p>
          <a:p>
            <a:r>
              <a:rPr lang="en-US" b="1" dirty="0">
                <a:latin typeface="Calibri" panose="020F0502020204030204" pitchFamily="34" charset="0"/>
                <a:cs typeface="Calibri" panose="020F0502020204030204" pitchFamily="34" charset="0"/>
              </a:rPr>
              <a:t>Basically, if we explain in one line, we can say that back propagation is an algorithm used to train neural  networks by propagating the error backward and updating the weights to minimize the loss.  </a:t>
            </a:r>
            <a:endParaRPr lang="en-IN"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918906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046A8-1F03-9C6D-F880-72C0E4457A22}"/>
              </a:ext>
            </a:extLst>
          </p:cNvPr>
          <p:cNvSpPr>
            <a:spLocks noGrp="1"/>
          </p:cNvSpPr>
          <p:nvPr>
            <p:ph type="title"/>
          </p:nvPr>
        </p:nvSpPr>
        <p:spPr>
          <a:xfrm>
            <a:off x="597159" y="982132"/>
            <a:ext cx="10954139" cy="1303867"/>
          </a:xfrm>
          <a:blipFill>
            <a:blip r:embed="rId2"/>
            <a:tile tx="0" ty="0" sx="100000" sy="100000" flip="none" algn="tl"/>
          </a:blipFill>
        </p:spPr>
        <p:txBody>
          <a:bodyPr/>
          <a:lstStyle/>
          <a:p>
            <a:r>
              <a:rPr lang="en-US" b="1" dirty="0">
                <a:latin typeface="Calibri" panose="020F0502020204030204" pitchFamily="34" charset="0"/>
                <a:cs typeface="Calibri" panose="020F0502020204030204" pitchFamily="34" charset="0"/>
              </a:rPr>
              <a:t>Model Accuracy graph</a:t>
            </a:r>
            <a:endParaRPr lang="en-IN" b="1" dirty="0">
              <a:latin typeface="Calibri" panose="020F0502020204030204" pitchFamily="34" charset="0"/>
              <a:cs typeface="Calibri" panose="020F0502020204030204" pitchFamily="34" charset="0"/>
            </a:endParaRPr>
          </a:p>
        </p:txBody>
      </p:sp>
      <p:pic>
        <p:nvPicPr>
          <p:cNvPr id="5" name="Content Placeholder 4">
            <a:extLst>
              <a:ext uri="{FF2B5EF4-FFF2-40B4-BE49-F238E27FC236}">
                <a16:creationId xmlns:a16="http://schemas.microsoft.com/office/drawing/2014/main" id="{C7C762B8-2F92-41B3-EADF-D781968A8FB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957804" y="2612571"/>
            <a:ext cx="6204857" cy="3619954"/>
          </a:xfrm>
        </p:spPr>
      </p:pic>
    </p:spTree>
    <p:extLst>
      <p:ext uri="{BB962C8B-B14F-4D97-AF65-F5344CB8AC3E}">
        <p14:creationId xmlns:p14="http://schemas.microsoft.com/office/powerpoint/2010/main" val="2295637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90D23-2F77-E49D-EEC4-A7BEC581BDD4}"/>
              </a:ext>
            </a:extLst>
          </p:cNvPr>
          <p:cNvSpPr>
            <a:spLocks noGrp="1"/>
          </p:cNvSpPr>
          <p:nvPr>
            <p:ph type="title"/>
          </p:nvPr>
        </p:nvSpPr>
        <p:spPr>
          <a:xfrm>
            <a:off x="662473" y="982133"/>
            <a:ext cx="10888825" cy="874660"/>
          </a:xfrm>
          <a:blipFill>
            <a:blip r:embed="rId2"/>
            <a:tile tx="0" ty="0" sx="100000" sy="100000" flip="none" algn="tl"/>
          </a:blipFill>
        </p:spPr>
        <p:txBody>
          <a:bodyPr/>
          <a:lstStyle/>
          <a:p>
            <a:r>
              <a:rPr lang="en-US" b="1" dirty="0">
                <a:latin typeface="Calibri" panose="020F0502020204030204" pitchFamily="34" charset="0"/>
                <a:cs typeface="Calibri" panose="020F0502020204030204" pitchFamily="34" charset="0"/>
              </a:rPr>
              <a:t>Confusion Matrix</a:t>
            </a:r>
            <a:endParaRPr lang="en-IN" b="1" dirty="0">
              <a:latin typeface="Calibri" panose="020F0502020204030204" pitchFamily="34" charset="0"/>
              <a:cs typeface="Calibri" panose="020F0502020204030204" pitchFamily="34" charset="0"/>
            </a:endParaRPr>
          </a:p>
        </p:txBody>
      </p:sp>
      <p:pic>
        <p:nvPicPr>
          <p:cNvPr id="5" name="Content Placeholder 4">
            <a:extLst>
              <a:ext uri="{FF2B5EF4-FFF2-40B4-BE49-F238E27FC236}">
                <a16:creationId xmlns:a16="http://schemas.microsoft.com/office/drawing/2014/main" id="{4DD43964-9BE8-EF80-9377-71E1D82AB7B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672835" y="1974211"/>
            <a:ext cx="4846330" cy="4160528"/>
          </a:xfrm>
        </p:spPr>
      </p:pic>
    </p:spTree>
    <p:extLst>
      <p:ext uri="{BB962C8B-B14F-4D97-AF65-F5344CB8AC3E}">
        <p14:creationId xmlns:p14="http://schemas.microsoft.com/office/powerpoint/2010/main" val="3201762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8A88C-2F54-29F2-A92F-7455FC39331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87D8326-8C97-8EA0-204C-AD8C6640E723}"/>
              </a:ext>
            </a:extLst>
          </p:cNvPr>
          <p:cNvSpPr>
            <a:spLocks noGrp="1"/>
          </p:cNvSpPr>
          <p:nvPr>
            <p:ph idx="1"/>
          </p:nvPr>
        </p:nvSpPr>
        <p:spPr/>
        <p:txBody>
          <a:bodyPr/>
          <a:lstStyle/>
          <a:p>
            <a:r>
              <a:rPr lang="en-US" b="1" dirty="0">
                <a:latin typeface="Calibri" panose="020F0502020204030204" pitchFamily="34" charset="0"/>
                <a:cs typeface="Calibri" panose="020F0502020204030204" pitchFamily="34" charset="0"/>
              </a:rPr>
              <a:t>Git Hub Link :  </a:t>
            </a:r>
            <a:r>
              <a:rPr lang="en-US" b="1" dirty="0">
                <a:latin typeface="Calibri" panose="020F0502020204030204" pitchFamily="34" charset="0"/>
                <a:cs typeface="Calibri" panose="020F0502020204030204" pitchFamily="34" charset="0"/>
                <a:hlinkClick r:id="rId2"/>
              </a:rPr>
              <a:t>Click Here</a:t>
            </a:r>
            <a:endParaRPr lang="en-IN"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1273362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57</TotalTime>
  <Words>298</Words>
  <Application>Microsoft Office PowerPoint</Application>
  <PresentationFormat>Widescreen</PresentationFormat>
  <Paragraphs>28</Paragraphs>
  <Slides>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Garamond</vt:lpstr>
      <vt:lpstr>Organic</vt:lpstr>
      <vt:lpstr>Naviotech Training &amp; Internship Project</vt:lpstr>
      <vt:lpstr>Neural Networks</vt:lpstr>
      <vt:lpstr>Step by Step Working of the Neural Networks</vt:lpstr>
      <vt:lpstr>Back Propagation</vt:lpstr>
      <vt:lpstr>Model Accuracy graph</vt:lpstr>
      <vt:lpstr>Confusion Matrix</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Chaitanya Mangla</dc:creator>
  <cp:lastModifiedBy>Chaitanya Mangla</cp:lastModifiedBy>
  <cp:revision>7</cp:revision>
  <dcterms:created xsi:type="dcterms:W3CDTF">2026-03-01T20:17:28Z</dcterms:created>
  <dcterms:modified xsi:type="dcterms:W3CDTF">2026-03-01T21:14:51Z</dcterms:modified>
</cp:coreProperties>
</file>